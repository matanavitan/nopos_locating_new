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6" r:id="rId14"/>
    <p:sldId id="288" r:id="rId15"/>
    <p:sldId id="291" r:id="rId16"/>
    <p:sldId id="292" r:id="rId17"/>
    <p:sldId id="293" r:id="rId18"/>
    <p:sldId id="295" r:id="rId19"/>
    <p:sldId id="267" r:id="rId20"/>
    <p:sldId id="270" r:id="rId21"/>
    <p:sldId id="271" r:id="rId22"/>
    <p:sldId id="272" r:id="rId23"/>
    <p:sldId id="273" r:id="rId24"/>
    <p:sldId id="274" r:id="rId25"/>
    <p:sldId id="275" r:id="rId26"/>
    <p:sldId id="287" r:id="rId27"/>
    <p:sldId id="269" r:id="rId28"/>
    <p:sldId id="278" r:id="rId29"/>
    <p:sldId id="276" r:id="rId30"/>
    <p:sldId id="279" r:id="rId31"/>
    <p:sldId id="280" r:id="rId32"/>
    <p:sldId id="281" r:id="rId33"/>
    <p:sldId id="284" r:id="rId34"/>
    <p:sldId id="285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8" d="100"/>
          <a:sy n="98" d="100"/>
        </p:scale>
        <p:origin x="79" y="1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7E79-C10F-3901-66A8-EEEB83C5A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7F5FC-C441-984E-79E4-053EA01A6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3EC71-BA5E-7CA5-59DC-3FBE0807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BF3E6-6094-8CFA-3FF9-889742B5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6A63-EAA4-074C-F3FA-21C5BBE8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0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A2FF-E1FA-BD9D-89A3-13887F46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7C1A-1DF6-C1ED-FD4C-BE59277B7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BB2BE-B9E2-BBC3-19E1-A0AD97FC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3FF75-0A1F-8A8C-975C-16C867ED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BFC89-76BC-8992-3DDB-B4579B53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4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9CBD-4D61-46FD-DE24-0ECBB298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63BF5-ACD9-EEB3-63E1-E9D16C5D2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E6CAA-E635-51F3-9EC0-A5ABCCD2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8FA4C-01FF-4C94-23BE-E8DB9D8D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D20B-5B71-C936-4150-3AEA2916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9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1A99-7062-4479-5E19-E3F34D7F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E5286-78B0-E74A-4F0B-52670B256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393B-BE17-91CD-0B52-29D56C348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19220-2AF6-904C-CC2E-A5449372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CBADE-3082-E86E-D3C3-81C7C3C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607C9-D881-161E-CFCC-49923B44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84DB-6E9F-B7B0-5144-F38BDF54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66D6A-1CAD-9144-6A4D-423D19A94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0C78B-4398-3962-1443-40698A40C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F16BA-3962-4789-8E74-8E0E5A6322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FEFEC-4435-0BC2-C946-62FB66187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580C3-9DE6-0DF1-C00D-9AA408D4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FF7D8-47F5-C44A-07D7-5CBEF42A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A3545-8BB7-5DD5-C316-4E9842AA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25A0-FEFB-E525-6334-300F5A8B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45BF9-F675-FEA9-6314-37A87937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19FF2-C000-4ED9-2734-92AC3336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174E7-9126-1479-F71F-4B8A0439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4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E792F-2EC9-F06F-B30C-81EBF16A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61810-8A05-CC41-2412-BF61ABB5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6C629-183C-4EA1-DBF8-9D08496E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0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4B73-C305-3C9C-DEEE-50F6C682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9C37E-9B27-E563-DC37-7688E5E8F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1EA97-DCF8-CB5E-065F-BA616778D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0333C-F816-146C-1616-EE575D29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4EAB6-6F81-28DE-E9D5-2AACEF70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225BE-3D6B-E718-E5A9-A496D09F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2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7228-1930-3418-29E8-DDF1F999A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C89BC-673D-C889-BDF8-F73ECE7CC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08FD8-80FB-0F55-DE08-40E7485E9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1E8AF-352C-5E95-8F5C-5DC9D910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2B2E1-02FF-781C-A729-CDF026BF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19D3E-7CD3-E8CB-A298-392CD8A5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9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BCCA-BF01-5549-5E48-F1ECCE3F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60D4B-333F-4F11-357E-7D2F68473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72222-FCD2-6AB8-D090-949B48A1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573F5-5FA7-481C-E475-0CFD5AAC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550C0-7C40-A862-10C8-14B80E22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5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E95A7-514D-6EF2-4565-9E5038D5B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67956-5033-F85F-2647-89BA0C6F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3D6B7-7A43-E3DF-B60B-61E88076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16842-7216-A947-5024-897CE3C7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75D8-91CC-2ED5-FF37-2A3238AA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3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BDB3A-90A8-1345-4EDB-BC38F89D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E114A-B1D3-480A-C26D-DC4D16D47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E55DB-2A7B-C2F6-691A-6ABAD96D8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992FA-69D1-4811-A325-40ED09BF02AD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63488-E9FC-4512-3377-D61A52445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25B3-9A40-EA7E-9ED3-E8C35A877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AF2E9-7577-42B7-8742-069C08165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0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3628-EFA6-4684-7842-A283B1979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Unveiling Implicit Positional Encoding Circuit in Causal Transformer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0A370-9459-0692-C887-8E1A8D0DC6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6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3AF8-A560-173E-6113-2B4822A7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– Encoder vs Decoder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E84A9-3B65-7B1F-3EC7-75F4D80245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Encoder – Can access the entire input at each attention operation</a:t>
                </a:r>
              </a:p>
              <a:p>
                <a:r>
                  <a:rPr lang="en-US" dirty="0"/>
                  <a:t>Decoder – Directional, hence, at timestamp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can access only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leftmost tokens.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E84A9-3B65-7B1F-3EC7-75F4D80245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F3D23DFA-7E5F-990B-F2FC-B9275BC0B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52" y="3163824"/>
            <a:ext cx="3473704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99F3936-CE72-947B-7653-DE1C3319B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016" y="3163824"/>
            <a:ext cx="6713723" cy="318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EBEC4F-3F1E-C75C-E48D-4AF757D70AC7}"/>
              </a:ext>
            </a:extLst>
          </p:cNvPr>
          <p:cNvSpPr txBox="1"/>
          <p:nvPr/>
        </p:nvSpPr>
        <p:spPr>
          <a:xfrm>
            <a:off x="9241970" y="5807631"/>
            <a:ext cx="149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382006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100" dirty="0"/>
              <a:t>Initialization matters – almost orthogonal vectors + Inductive Bias of causal transformer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DAB05-931D-E88C-A6C7-35E353C25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126458"/>
            <a:ext cx="5150277" cy="25107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CCB4-A3B0-0FED-CE92-9DF62A39F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W/O the need to learn anything, if we </a:t>
            </a:r>
            <a:r>
              <a:rPr lang="en-US" sz="2000" dirty="0" err="1"/>
              <a:t>initializae</a:t>
            </a:r>
            <a:r>
              <a:rPr lang="en-US" sz="2000" dirty="0"/>
              <a:t> the X@W_Q and X@W_K from Normal(0, 0.1).</a:t>
            </a:r>
          </a:p>
          <a:p>
            <a:r>
              <a:rPr lang="en-US" sz="2000" dirty="0"/>
              <a:t>Then X@W_K @ X@W_Q:</a:t>
            </a:r>
          </a:p>
          <a:p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2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100"/>
              <a:t>Initialization matters – almost orthogonal vectors + Inductive Bias of causal transformer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DAB05-931D-E88C-A6C7-35E353C25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126458"/>
            <a:ext cx="5150277" cy="25107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CCB4-A3B0-0FED-CE92-9DF62A39F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values on the diagonal are just slightly higher than the values on the lower triangle, and they both greater that the values on the upper triangle.</a:t>
            </a:r>
            <a:br>
              <a:rPr lang="en-US" sz="2000" dirty="0"/>
            </a:br>
            <a:r>
              <a:rPr lang="en-US" sz="2000" dirty="0"/>
              <a:t>Applying a </a:t>
            </a:r>
            <a:r>
              <a:rPr lang="en-US" sz="2000" dirty="0" err="1"/>
              <a:t>softmax</a:t>
            </a:r>
            <a:r>
              <a:rPr lang="en-US" sz="2000" dirty="0"/>
              <a:t> on this attention scores column-wise would induce the following attention pattern: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5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100"/>
              <a:t>Initialization matters – almost orthogonal vectors + Inductive Bias of causal transformer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31C3F-80C9-647B-FC4A-77C53BE4E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268090"/>
            <a:ext cx="5150277" cy="22274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CCB4-A3B0-0FED-CE92-9DF62A39F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Calculating the Variance of each position (row) would result in a monotonically decreasing variance.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100"/>
              <a:t>Initialization matters – almost orthogonal vectors + Inductive Bias of causal transformer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7464E-FE27-25D6-9BBD-58E33B757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3210149"/>
            <a:ext cx="5150277" cy="23433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CCB4-A3B0-0FED-CE92-9DF62A39F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Calculating the Variance of each position (row) would result in a monotonically decreasing variance.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8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 fontScale="90000"/>
          </a:bodyPr>
          <a:lstStyle/>
          <a:p>
            <a:r>
              <a:rPr lang="en-US" sz="4100" dirty="0"/>
              <a:t>Initialization matters – almost orthogonal vectors + Inductive Bias of causal transformer - constraints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1CCE8-66DF-1A09-062B-EDD16FFE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825625"/>
            <a:ext cx="10755284" cy="4351338"/>
          </a:xfrm>
        </p:spPr>
        <p:txBody>
          <a:bodyPr/>
          <a:lstStyle/>
          <a:p>
            <a:r>
              <a:rPr lang="en-US" dirty="0" err="1"/>
              <a:t>a_i</a:t>
            </a:r>
            <a:r>
              <a:rPr lang="en-US" dirty="0"/>
              <a:t> * </a:t>
            </a:r>
            <a:r>
              <a:rPr lang="en-US" dirty="0" err="1"/>
              <a:t>a_i</a:t>
            </a:r>
            <a:r>
              <a:rPr lang="en-US" dirty="0"/>
              <a:t> = c1,  </a:t>
            </a:r>
            <a:r>
              <a:rPr lang="en-US" dirty="0" err="1"/>
              <a:t>a_i</a:t>
            </a:r>
            <a:r>
              <a:rPr lang="en-US" dirty="0"/>
              <a:t> * </a:t>
            </a:r>
            <a:r>
              <a:rPr lang="en-US" dirty="0" err="1"/>
              <a:t>a_j</a:t>
            </a:r>
            <a:r>
              <a:rPr lang="en-US" dirty="0"/>
              <a:t> = c2, c1&gt;c2&gt;0 (works for the other direction).</a:t>
            </a:r>
          </a:p>
          <a:p>
            <a:r>
              <a:rPr lang="en-US" dirty="0"/>
              <a:t>Not allowed: c1&gt;&gt;c2</a:t>
            </a:r>
          </a:p>
          <a:p>
            <a:r>
              <a:rPr lang="en-US" dirty="0"/>
              <a:t>Exp(c1) = Exp(Large number) &gt;&gt;&gt; Exp(Something which is almost 0 per channel, aggregated over channels to be a small number) = Exp(2)</a:t>
            </a:r>
          </a:p>
          <a:p>
            <a:r>
              <a:rPr lang="en-US" dirty="0"/>
              <a:t>If c1&gt;&gt;c2 then after </a:t>
            </a:r>
            <a:r>
              <a:rPr lang="en-US" dirty="0" err="1"/>
              <a:t>softmax</a:t>
            </a:r>
            <a:r>
              <a:rPr lang="en-US" dirty="0"/>
              <a:t> the diagonal is 1, every </a:t>
            </a:r>
            <a:r>
              <a:rPr lang="en-US" dirty="0" err="1"/>
              <a:t>i,j,i</a:t>
            </a:r>
            <a:r>
              <a:rPr lang="en-US" dirty="0"/>
              <a:t>!=j is 0.</a:t>
            </a:r>
            <a:br>
              <a:rPr lang="en-US" dirty="0"/>
            </a:br>
            <a:r>
              <a:rPr lang="en-US" dirty="0"/>
              <a:t>And the variance as a function of positions is a const function.</a:t>
            </a:r>
          </a:p>
        </p:txBody>
      </p:sp>
    </p:spTree>
    <p:extLst>
      <p:ext uri="{BB962C8B-B14F-4D97-AF65-F5344CB8AC3E}">
        <p14:creationId xmlns:p14="http://schemas.microsoft.com/office/powerpoint/2010/main" val="122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2200" dirty="0"/>
              <a:t>Initialization matters – almost orthogonal vectors + Inductive Bias of causal transformer – </a:t>
            </a:r>
            <a:r>
              <a:rPr lang="en-US" sz="2200" b="1" dirty="0"/>
              <a:t>Phase change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1CCE8-66DF-1A09-062B-EDD16FFE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Mean=0, Std&gt;0.1</a:t>
            </a:r>
          </a:p>
          <a:p>
            <a:r>
              <a:rPr lang="en-US" sz="2000" dirty="0"/>
              <a:t>Can’t encode position</a:t>
            </a:r>
          </a:p>
          <a:p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6404F9-4D12-917D-F499-E41F09E1C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3" r="3" b="646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2200" dirty="0"/>
              <a:t>Initialization matters – almost orthogonal vectors + Inductive Bias of causal transformer – </a:t>
            </a:r>
            <a:r>
              <a:rPr lang="en-US" sz="2200" b="1" dirty="0"/>
              <a:t>Phase change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1CCE8-66DF-1A09-062B-EDD16FFE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Mean=0, 0.1&gt;Std&gt;0.01</a:t>
            </a:r>
          </a:p>
          <a:p>
            <a:r>
              <a:rPr lang="en-US" sz="2000" dirty="0"/>
              <a:t>Encode position at the variance, and a nice property is that the diagonal is also monotonic.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0F6B0-D157-4E96-5B4C-C540A133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494" y="723656"/>
            <a:ext cx="5399238" cy="56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42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F182A-0798-03A3-F13E-D51715B1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2200" dirty="0"/>
              <a:t>Initialization matters – almost orthogonal vectors + Inductive Bias of causal transformer – </a:t>
            </a:r>
            <a:r>
              <a:rPr lang="en-US" sz="2200" b="1" dirty="0"/>
              <a:t>Phase change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1CCE8-66DF-1A09-062B-EDD16FFE4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Mean=0, 0.01&gt;Std</a:t>
            </a:r>
          </a:p>
          <a:p>
            <a:r>
              <a:rPr lang="en-US" sz="2000" dirty="0"/>
              <a:t>Can encode position.</a:t>
            </a:r>
          </a:p>
          <a:p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BCAEA-41CF-67C1-ADB6-6D15EE49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9603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19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C8C1-8315-EF12-DBE7-F0377D66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till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072F-54A6-3601-7220-A12A99C88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Initializing “almost orthogonal vectors” is part of the circuit. – </a:t>
            </a:r>
            <a:r>
              <a:rPr lang="en-US" b="1" dirty="0"/>
              <a:t>mean and variance are part of the circuit.</a:t>
            </a:r>
            <a:endParaRPr lang="en-US" dirty="0"/>
          </a:p>
          <a:p>
            <a:r>
              <a:rPr lang="en-US" dirty="0" err="1"/>
              <a:t>Softmax</a:t>
            </a:r>
            <a:r>
              <a:rPr lang="en-US" dirty="0"/>
              <a:t> is part of the circuit.</a:t>
            </a:r>
          </a:p>
          <a:p>
            <a:r>
              <a:rPr lang="en-US" dirty="0"/>
              <a:t>The form of causal attention is part of the circuit (The change in the amount of 0s at the upper triangle enables the monotonicity in the variance.).</a:t>
            </a:r>
          </a:p>
        </p:txBody>
      </p:sp>
    </p:spTree>
    <p:extLst>
      <p:ext uri="{BB962C8B-B14F-4D97-AF65-F5344CB8AC3E}">
        <p14:creationId xmlns:p14="http://schemas.microsoft.com/office/powerpoint/2010/main" val="398902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A732-B453-40F8-8EFD-4F574BD49B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LayerNormalization</a:t>
            </a:r>
            <a:r>
              <a:rPr lang="en-US" dirty="0"/>
              <a:t> is part of the circuit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FDD51-81FC-8A69-C0D9-A8FF031DDD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7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1656-49D5-B453-3B56-66033400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AA327-BAEF-FC3B-561A-1BE73E6B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 – std -&gt; channel/neuron</a:t>
            </a:r>
          </a:p>
          <a:p>
            <a:r>
              <a:rPr lang="en-US" dirty="0"/>
              <a:t>Explain the math</a:t>
            </a:r>
          </a:p>
        </p:txBody>
      </p:sp>
    </p:spTree>
    <p:extLst>
      <p:ext uri="{BB962C8B-B14F-4D97-AF65-F5344CB8AC3E}">
        <p14:creationId xmlns:p14="http://schemas.microsoft.com/office/powerpoint/2010/main" val="200371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5F14-56CD-4387-025A-77BA2DDE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0.75 Don’t train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4A2A3-2A71-DD05-63C1-29FAD8192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point is to prove that training even w/o training the embeddings can recover positional information implicitly.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Because in the real world we train the network w/ the embeddings, we do have another exp in which we train also the embeddings and show it is not hurts.</a:t>
            </a:r>
          </a:p>
        </p:txBody>
      </p:sp>
    </p:spTree>
    <p:extLst>
      <p:ext uri="{BB962C8B-B14F-4D97-AF65-F5344CB8AC3E}">
        <p14:creationId xmlns:p14="http://schemas.microsoft.com/office/powerpoint/2010/main" val="2085140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5F14-56CD-4387-025A-77BA2DDE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0.75 Don’t train embeddings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0934F-BA3A-A358-6487-0A81F2E0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7" y="3286124"/>
            <a:ext cx="11212490" cy="3406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3A950F-E809-5044-64D7-6E62671D4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928" y="0"/>
            <a:ext cx="4429743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52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5F14-56CD-4387-025A-77BA2DDE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-296863"/>
            <a:ext cx="10515600" cy="1325563"/>
          </a:xfrm>
        </p:spPr>
        <p:txBody>
          <a:bodyPr/>
          <a:lstStyle/>
          <a:p>
            <a:r>
              <a:rPr lang="en-US" dirty="0"/>
              <a:t>0.75 Don’t train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0AD93-56A9-D5F5-041E-3D73E9703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6" y="934107"/>
            <a:ext cx="12192000" cy="3094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ED20EF-4B11-E71E-46FA-B4AA5C00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3957637"/>
            <a:ext cx="12192000" cy="27164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3F3925-EE8D-E342-2174-2A9BB3E39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4110037"/>
            <a:ext cx="12192000" cy="271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60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5F14-56CD-4387-025A-77BA2DDE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-296863"/>
            <a:ext cx="10515600" cy="1325563"/>
          </a:xfrm>
        </p:spPr>
        <p:txBody>
          <a:bodyPr/>
          <a:lstStyle/>
          <a:p>
            <a:r>
              <a:rPr lang="en-US" dirty="0"/>
              <a:t>0.75 Don’t train embeddings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F2D8E-CB89-65B6-7FA5-A7B35D5F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" y="607556"/>
            <a:ext cx="12192000" cy="2756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AFF0C5-6F93-C337-1570-8B6EE0F49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3647996"/>
            <a:ext cx="12192000" cy="292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72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5F14-56CD-4387-025A-77BA2DDE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-296863"/>
            <a:ext cx="10515600" cy="1325563"/>
          </a:xfrm>
        </p:spPr>
        <p:txBody>
          <a:bodyPr/>
          <a:lstStyle/>
          <a:p>
            <a:r>
              <a:rPr lang="en-US" dirty="0"/>
              <a:t>0.75 Don’t train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F8AEE-F924-9519-4F5B-FC0829598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670969"/>
            <a:ext cx="12192000" cy="282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55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5361-CB93-2821-82C0-637A7FFC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C351-934E-1F19-FEDA-A8171DFDB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vector of 64 tokens selected *w* replacement (token can appears more than only once) predict the absolute position regardless on anything.</a:t>
            </a:r>
          </a:p>
        </p:txBody>
      </p:sp>
    </p:spTree>
    <p:extLst>
      <p:ext uri="{BB962C8B-B14F-4D97-AF65-F5344CB8AC3E}">
        <p14:creationId xmlns:p14="http://schemas.microsoft.com/office/powerpoint/2010/main" val="343139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FC31D-2DB8-1937-36F0-711C9BCE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First Layer attn pattern – synthetic DS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2D819C-731B-E432-5052-6CA7A8F91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476" y="2642616"/>
            <a:ext cx="3951544" cy="3605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816A9-89E0-92B9-012A-5D868ED25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126" y="2642616"/>
            <a:ext cx="4109155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86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3261-F895-D4E4-F998-69E3F211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 over poses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FBA24-278B-8EE4-E863-44D9E192F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974BC-EA59-6FAF-DA77-A2F0B285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848" y="1921289"/>
            <a:ext cx="7228303" cy="301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77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7F84-5E89-8E0C-E315-F10E7AE7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attn output mean over poses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043B7-D23D-50A7-FAE4-D7717009A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3689"/>
            <a:ext cx="10515600" cy="3555209"/>
          </a:xfrm>
        </p:spPr>
      </p:pic>
    </p:spTree>
    <p:extLst>
      <p:ext uri="{BB962C8B-B14F-4D97-AF65-F5344CB8AC3E}">
        <p14:creationId xmlns:p14="http://schemas.microsoft.com/office/powerpoint/2010/main" val="379097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2642-331F-A783-B4DF-C2377D855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Right after LN, the position is encoded in the MLP’s input columns – From std rows to columns </a:t>
            </a:r>
            <a:r>
              <a:rPr lang="en-US" dirty="0" err="1"/>
              <a:t>explicilty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0F076-885A-38BA-BA7E-990F717C9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1191"/>
            <a:ext cx="10515600" cy="3520205"/>
          </a:xfrm>
        </p:spPr>
      </p:pic>
    </p:spTree>
    <p:extLst>
      <p:ext uri="{BB962C8B-B14F-4D97-AF65-F5344CB8AC3E}">
        <p14:creationId xmlns:p14="http://schemas.microsoft.com/office/powerpoint/2010/main" val="68962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7C25-0F91-5742-4B95-D60C2AD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component within the LN which responsible for the explicit writing of the positional information to the columns of the MLP 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6ED543-20E2-0579-7BD9-08CAC3FCB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7788"/>
            <a:ext cx="10515600" cy="2867012"/>
          </a:xfrm>
        </p:spPr>
      </p:pic>
    </p:spTree>
    <p:extLst>
      <p:ext uri="{BB962C8B-B14F-4D97-AF65-F5344CB8AC3E}">
        <p14:creationId xmlns:p14="http://schemas.microsoft.com/office/powerpoint/2010/main" val="692675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DB93-1D6B-219A-EAC3-90289626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other component also has a monotonic form which we substitute by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7E5804-F564-F3E3-0BCB-49FE15764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9795"/>
            <a:ext cx="10515600" cy="3122997"/>
          </a:xfrm>
        </p:spPr>
      </p:pic>
    </p:spTree>
    <p:extLst>
      <p:ext uri="{BB962C8B-B14F-4D97-AF65-F5344CB8AC3E}">
        <p14:creationId xmlns:p14="http://schemas.microsoft.com/office/powerpoint/2010/main" val="529638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45F7-CAEE-77F1-7144-6940E0A8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1.5 Run without LN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379C9-5A29-17EB-CEB9-CD50CCAC9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21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D5361-CB93-2821-82C0-637A7FFC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3472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Experiment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6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A83B1E53-20FB-D4FA-C86B-AD9DDD834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"/>
          <a:stretch/>
        </p:blipFill>
        <p:spPr>
          <a:xfrm>
            <a:off x="279141" y="3429000"/>
            <a:ext cx="5221625" cy="3010397"/>
          </a:xfrm>
          <a:prstGeom prst="rect">
            <a:avLst/>
          </a:prstGeom>
        </p:spPr>
      </p:pic>
      <p:pic>
        <p:nvPicPr>
          <p:cNvPr id="13" name="Picture 12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46256C25-CBA7-BB43-3D35-F84BB4C24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5" b="665"/>
          <a:stretch/>
        </p:blipFill>
        <p:spPr>
          <a:xfrm>
            <a:off x="279141" y="299507"/>
            <a:ext cx="5221625" cy="30103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C351-934E-1F19-FEDA-A8171DFD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The circuit weakness is the number of distinct tokens.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937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D5361-CB93-2821-82C0-637A7FFC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34720" cy="1716255"/>
          </a:xfrm>
        </p:spPr>
        <p:txBody>
          <a:bodyPr anchor="b">
            <a:normAutofit/>
          </a:bodyPr>
          <a:lstStyle/>
          <a:p>
            <a:r>
              <a:rPr lang="en-US" sz="5600"/>
              <a:t>Experiment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A3A5FE8-3960-7A3E-5687-55B858486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" b="298"/>
          <a:stretch/>
        </p:blipFill>
        <p:spPr>
          <a:xfrm>
            <a:off x="279142" y="3276227"/>
            <a:ext cx="5221625" cy="3010397"/>
          </a:xfrm>
          <a:prstGeom prst="rect">
            <a:avLst/>
          </a:prstGeom>
        </p:spPr>
      </p:pic>
      <p:pic>
        <p:nvPicPr>
          <p:cNvPr id="7" name="Picture 6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96C97C3F-93A1-B109-3342-D2DE5FF50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5" b="1981"/>
          <a:stretch/>
        </p:blipFill>
        <p:spPr>
          <a:xfrm>
            <a:off x="279142" y="132915"/>
            <a:ext cx="5221625" cy="30103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C351-934E-1F19-FEDA-A8171DFD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The circuit weakness is the number of distinct tokens.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369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5361-CB93-2821-82C0-637A7FFC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 – Natural Language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642A82-5412-6DE6-EBD4-55D8D6BD7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7294"/>
            <a:ext cx="10515600" cy="3048000"/>
          </a:xfrm>
        </p:spPr>
      </p:pic>
    </p:spTree>
    <p:extLst>
      <p:ext uri="{BB962C8B-B14F-4D97-AF65-F5344CB8AC3E}">
        <p14:creationId xmlns:p14="http://schemas.microsoft.com/office/powerpoint/2010/main" val="3738148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6D2F-8AB9-7E1D-86A5-3BB21BFA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0C59FD-2E81-C214-F3D8-A429C4FB0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95705"/>
            <a:ext cx="10515600" cy="2611177"/>
          </a:xfrm>
        </p:spPr>
      </p:pic>
    </p:spTree>
    <p:extLst>
      <p:ext uri="{BB962C8B-B14F-4D97-AF65-F5344CB8AC3E}">
        <p14:creationId xmlns:p14="http://schemas.microsoft.com/office/powerpoint/2010/main" val="1963926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6D2F-8AB9-7E1D-86A5-3BB21BFA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LN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FE1C2B-858C-8D5F-1207-71D62F9F3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2218"/>
            <a:ext cx="10515600" cy="2778151"/>
          </a:xfrm>
        </p:spPr>
      </p:pic>
    </p:spTree>
    <p:extLst>
      <p:ext uri="{BB962C8B-B14F-4D97-AF65-F5344CB8AC3E}">
        <p14:creationId xmlns:p14="http://schemas.microsoft.com/office/powerpoint/2010/main" val="3558845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6D2F-8AB9-7E1D-86A5-3BB21BFA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3FF855-16BB-B92F-5251-610C8B2F4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8700"/>
            <a:ext cx="10515600" cy="2985187"/>
          </a:xfrm>
        </p:spPr>
      </p:pic>
    </p:spTree>
    <p:extLst>
      <p:ext uri="{BB962C8B-B14F-4D97-AF65-F5344CB8AC3E}">
        <p14:creationId xmlns:p14="http://schemas.microsoft.com/office/powerpoint/2010/main" val="1664636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435B-9703-29FF-C5AC-24F95D91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BA195A-733C-46CB-E53D-59E977DCA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59398"/>
            <a:ext cx="10515600" cy="2083792"/>
          </a:xfrm>
        </p:spPr>
      </p:pic>
    </p:spTree>
    <p:extLst>
      <p:ext uri="{BB962C8B-B14F-4D97-AF65-F5344CB8AC3E}">
        <p14:creationId xmlns:p14="http://schemas.microsoft.com/office/powerpoint/2010/main" val="2943989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21D2-A0E1-2AE9-0CD8-102E9D12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– Causal intervention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0102-0DE5-3470-D31D-BB8510D08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21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55AD-E578-685E-0442-4C8F6446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– Train/find LM w/o positional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81113-58CF-ADB5-D291-AB5D0BBC6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61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1931-A06B-EB2E-9D2B-825144D2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Todos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C611-49C2-8E61-DCD3-2DC0CF2F1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contributions?</a:t>
            </a:r>
          </a:p>
          <a:p>
            <a:r>
              <a:rPr lang="en-US" dirty="0"/>
              <a:t>Introduction – A story in bullets</a:t>
            </a:r>
          </a:p>
          <a:p>
            <a:r>
              <a:rPr lang="en-US" dirty="0"/>
              <a:t>There is a phenomena of encoding positional information even w/o position encoding</a:t>
            </a:r>
          </a:p>
          <a:p>
            <a:r>
              <a:rPr lang="en-US" dirty="0"/>
              <a:t>Transformers usually train w/ position embedding…</a:t>
            </a:r>
          </a:p>
          <a:p>
            <a:r>
              <a:rPr lang="en-US" dirty="0"/>
              <a:t>People argue the LN omit positional information we argue it helps.</a:t>
            </a:r>
          </a:p>
          <a:p>
            <a:r>
              <a:rPr lang="en-US" dirty="0"/>
              <a:t>Learn more about Xavier initialization.</a:t>
            </a:r>
          </a:p>
          <a:p>
            <a:r>
              <a:rPr lang="en-US" dirty="0"/>
              <a:t>Background – Circuits, things we can </a:t>
            </a:r>
            <a:r>
              <a:rPr lang="en-US" dirty="0" err="1"/>
              <a:t>leanrt</a:t>
            </a:r>
            <a:r>
              <a:rPr lang="en-US" dirty="0"/>
              <a:t> w/ causal transformer but can't with MLM.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703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13930</TotalTime>
  <Words>800</Words>
  <Application>Microsoft Office PowerPoint</Application>
  <PresentationFormat>Widescreen</PresentationFormat>
  <Paragraphs>69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Cambria Math</vt:lpstr>
      <vt:lpstr>Office Theme</vt:lpstr>
      <vt:lpstr>Unveiling Implicit Positional Encoding Circuit in Causal Transformer</vt:lpstr>
      <vt:lpstr>Intro – Encoder vs Decoder</vt:lpstr>
      <vt:lpstr>Initialization matters – almost orthogonal vectors + Inductive Bias of causal transformer</vt:lpstr>
      <vt:lpstr>Initialization matters – almost orthogonal vectors + Inductive Bias of causal transformer</vt:lpstr>
      <vt:lpstr>Initialization matters – almost orthogonal vectors + Inductive Bias of causal transformer</vt:lpstr>
      <vt:lpstr>Initialization matters – almost orthogonal vectors + Inductive Bias of causal transformer</vt:lpstr>
      <vt:lpstr>Initialization matters – almost orthogonal vectors + Inductive Bias of causal transformer - constraints</vt:lpstr>
      <vt:lpstr>Initialization matters – almost orthogonal vectors + Inductive Bias of causal transformer – Phase change</vt:lpstr>
      <vt:lpstr>Initialization matters – almost orthogonal vectors + Inductive Bias of causal transformer – Phase change</vt:lpstr>
      <vt:lpstr>Initialization matters – almost orthogonal vectors + Inductive Bias of causal transformer – Phase change</vt:lpstr>
      <vt:lpstr>Conclusions till now</vt:lpstr>
      <vt:lpstr>LayerNormalization is part of the circuit</vt:lpstr>
      <vt:lpstr>Explanation</vt:lpstr>
      <vt:lpstr>0.75 Don’t train embeddings</vt:lpstr>
      <vt:lpstr>0.75 Don’t train embeddings</vt:lpstr>
      <vt:lpstr>0.75 Don’t train embeddings</vt:lpstr>
      <vt:lpstr>0.75 Don’t train embeddings</vt:lpstr>
      <vt:lpstr>0.75 Don’t train embeddings</vt:lpstr>
      <vt:lpstr>Experiment 1</vt:lpstr>
      <vt:lpstr>First Layer attn pattern – synthetic DS</vt:lpstr>
      <vt:lpstr>STD over poses</vt:lpstr>
      <vt:lpstr>Weighted attn output mean over poses</vt:lpstr>
      <vt:lpstr>Right after LN, the position is encoded in the MLP’s input columns – From std rows to columns explicilty</vt:lpstr>
      <vt:lpstr>The component within the LN which responsible for the explicit writing of the positional information to the columns of the MLP input</vt:lpstr>
      <vt:lpstr>The other component also has a monotonic form which we substitute by</vt:lpstr>
      <vt:lpstr>1.5 Run without LN</vt:lpstr>
      <vt:lpstr>Experiment 2</vt:lpstr>
      <vt:lpstr>Experiment 2</vt:lpstr>
      <vt:lpstr>Experiment 3 – Natural Language</vt:lpstr>
      <vt:lpstr>PowerPoint Presentation</vt:lpstr>
      <vt:lpstr>After LN</vt:lpstr>
      <vt:lpstr>PowerPoint Presentation</vt:lpstr>
      <vt:lpstr>PowerPoint Presentation</vt:lpstr>
      <vt:lpstr>4 – Causal intervention</vt:lpstr>
      <vt:lpstr>5 – Train/find LM w/o positional information</vt:lpstr>
      <vt:lpstr>Todos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Matan Avitan</dc:creator>
  <cp:lastModifiedBy>Matan Avitan</cp:lastModifiedBy>
  <cp:revision>55</cp:revision>
  <dcterms:created xsi:type="dcterms:W3CDTF">2024-09-01T11:01:27Z</dcterms:created>
  <dcterms:modified xsi:type="dcterms:W3CDTF">2024-11-07T10:31:09Z</dcterms:modified>
</cp:coreProperties>
</file>